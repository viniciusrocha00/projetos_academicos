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15"/>
  </p:notesMasterIdLst>
  <p:sldIdLst>
    <p:sldId id="272" r:id="rId2"/>
    <p:sldId id="271" r:id="rId3"/>
    <p:sldId id="284" r:id="rId4"/>
    <p:sldId id="273" r:id="rId5"/>
    <p:sldId id="276" r:id="rId6"/>
    <p:sldId id="285" r:id="rId7"/>
    <p:sldId id="311" r:id="rId8"/>
    <p:sldId id="306" r:id="rId9"/>
    <p:sldId id="281" r:id="rId10"/>
    <p:sldId id="289" r:id="rId11"/>
    <p:sldId id="307" r:id="rId12"/>
    <p:sldId id="309" r:id="rId13"/>
    <p:sldId id="310" r:id="rId14"/>
  </p:sldIdLst>
  <p:sldSz cx="12192000" cy="6858000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A8C6503B-508E-4DB3-A410-4BF7974041B9}" type="datetimeFigureOut">
              <a:rPr lang="pt-BR" smtClean="0"/>
              <a:t>17/11/2024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13A573A1-8B29-4DAE-902C-DAC767494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155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28C30-FAFA-42AC-8A65-1ACE26945280}" type="datetime10">
              <a:rPr lang="pt-BR" smtClean="0"/>
              <a:t>19:37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E9F8-694E-4014-9190-D53BFD3B0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4118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00954-1D80-4EAA-8DB5-268236345FCA}" type="datetime10">
              <a:rPr lang="pt-BR" smtClean="0"/>
              <a:t>19:37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E9F8-694E-4014-9190-D53BFD3B0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0268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F504F-000C-4814-92CB-C191BAB3164E}" type="datetime10">
              <a:rPr lang="pt-BR" smtClean="0"/>
              <a:t>19:37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E9F8-694E-4014-9190-D53BFD3B0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3651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A8951-172D-4004-BA32-25119657ABF1}" type="datetime10">
              <a:rPr lang="pt-BR" smtClean="0"/>
              <a:t>19:37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E9F8-694E-4014-9190-D53BFD3B0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2502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F5224-7A9B-4556-8E0B-8FCDDF30CC89}" type="datetime10">
              <a:rPr lang="pt-BR" smtClean="0"/>
              <a:t>19:37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E9F8-694E-4014-9190-D53BFD3B0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5857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48EB7-075D-410D-BF20-E1AE23EC95D1}" type="datetime10">
              <a:rPr lang="pt-BR" smtClean="0"/>
              <a:t>19:37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E9F8-694E-4014-9190-D53BFD3B0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9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C8E2E-C8E2-433A-9D25-6B332F19374B}" type="datetime10">
              <a:rPr lang="pt-BR" smtClean="0"/>
              <a:t>19:37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E9F8-694E-4014-9190-D53BFD3B0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096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B5479-C373-4997-BF1B-81BF6AEE9258}" type="datetime10">
              <a:rPr lang="pt-BR" smtClean="0"/>
              <a:t>19:37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E9F8-694E-4014-9190-D53BFD3B0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9315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C060E-7E84-4E73-B6BF-0DA5644CEC08}" type="datetime10">
              <a:rPr lang="pt-BR" smtClean="0"/>
              <a:t>19:37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E9F8-694E-4014-9190-D53BFD3B0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2450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A011D-8C8A-492F-9295-95806D3C4D88}" type="datetime10">
              <a:rPr lang="pt-BR" smtClean="0"/>
              <a:t>19:37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E9F8-694E-4014-9190-D53BFD3B0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448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6A34-B550-4361-A46C-668CD2E9AD33}" type="datetime10">
              <a:rPr lang="pt-BR" smtClean="0"/>
              <a:t>19:37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E9F8-694E-4014-9190-D53BFD3B0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4572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56FFAE-0D97-4E29-81D6-AEABCCFC7377}" type="datetime10">
              <a:rPr lang="pt-BR" smtClean="0"/>
              <a:t>19:37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9E9F8-694E-4014-9190-D53BFD3B0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28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8397BE3-E7B9-4BD6-3C75-85773FCD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9297" y="6293055"/>
            <a:ext cx="327734" cy="365125"/>
          </a:xfrm>
        </p:spPr>
        <p:txBody>
          <a:bodyPr/>
          <a:lstStyle/>
          <a:p>
            <a:fld id="{05E9E9F8-694E-4014-9190-D53BFD3B079D}" type="slidenum">
              <a:rPr lang="pt-BR" smtClean="0"/>
              <a:t>1</a:t>
            </a:fld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DB7A608-8F50-3E66-330D-D1029BC110B8}"/>
              </a:ext>
            </a:extLst>
          </p:cNvPr>
          <p:cNvSpPr txBox="1"/>
          <p:nvPr/>
        </p:nvSpPr>
        <p:spPr>
          <a:xfrm>
            <a:off x="336291" y="1318921"/>
            <a:ext cx="7375149" cy="419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Sumário das Apresentações por equipe </a:t>
            </a:r>
            <a:r>
              <a:rPr lang="pt-B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(Não Alterar)</a:t>
            </a:r>
          </a:p>
          <a:p>
            <a:pPr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1. Apresentação geral</a:t>
            </a:r>
          </a:p>
          <a:p>
            <a:pPr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2. Atendimento a ODS</a:t>
            </a:r>
          </a:p>
          <a:p>
            <a:pPr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3. Justificativa e objetivo do Projeto</a:t>
            </a:r>
          </a:p>
          <a:p>
            <a:pPr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4. Levantamento de Requisitos e evidências</a:t>
            </a:r>
          </a:p>
          <a:p>
            <a:pPr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Modelagem do sistema- Diagrama de Casos de Uso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6.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Modelagem do sistema- Diagrama Entidade Relacionamento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7.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Diagrama de Classes UML -JAVA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8.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Desenvolvimento do Banco de Dados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10.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Vídeo funcional da Integração JAVA- SQL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Gráfico 1">
            <a:extLst>
              <a:ext uri="{FF2B5EF4-FFF2-40B4-BE49-F238E27FC236}">
                <a16:creationId xmlns:a16="http://schemas.microsoft.com/office/drawing/2014/main" id="{B27330DD-0284-03BD-D19D-C6ACA452219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5576" b="24027"/>
          <a:stretch/>
        </p:blipFill>
        <p:spPr bwMode="auto">
          <a:xfrm>
            <a:off x="259708" y="296847"/>
            <a:ext cx="1902467" cy="9591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D397F4DA-296C-DD19-31EB-B6AFB4C3EFD0}"/>
              </a:ext>
            </a:extLst>
          </p:cNvPr>
          <p:cNvSpPr/>
          <p:nvPr/>
        </p:nvSpPr>
        <p:spPr>
          <a:xfrm>
            <a:off x="8289685" y="3624680"/>
            <a:ext cx="29041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EXEMPLO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52F0616-B630-F6B3-7D54-F3FA4F9EBBCB}"/>
              </a:ext>
            </a:extLst>
          </p:cNvPr>
          <p:cNvSpPr txBox="1"/>
          <p:nvPr/>
        </p:nvSpPr>
        <p:spPr>
          <a:xfrm>
            <a:off x="0" y="5514941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solidFill>
                  <a:srgbClr val="FF0000"/>
                </a:solidFill>
              </a:rPr>
              <a:t>Atenção! Esta é a sequência padrão de apresentação de cada equipe e está em acordo com os critérios de avaliação. Alteração de posicionamento e padrão do formato apresentado podem acarretar perda de pontuação durante a apresentação! </a:t>
            </a:r>
            <a:r>
              <a:rPr lang="pt-BR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Entregar no formato .</a:t>
            </a:r>
            <a:r>
              <a:rPr lang="pt-BR" sz="2400" b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ppt</a:t>
            </a:r>
            <a:r>
              <a:rPr lang="pt-BR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para anexação.</a:t>
            </a:r>
          </a:p>
        </p:txBody>
      </p:sp>
    </p:spTree>
    <p:extLst>
      <p:ext uri="{BB962C8B-B14F-4D97-AF65-F5344CB8AC3E}">
        <p14:creationId xmlns:p14="http://schemas.microsoft.com/office/powerpoint/2010/main" val="29196402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8397BE3-E7B9-4BD6-3C75-85773FCD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9297" y="6293055"/>
            <a:ext cx="327734" cy="365125"/>
          </a:xfrm>
        </p:spPr>
        <p:txBody>
          <a:bodyPr/>
          <a:lstStyle/>
          <a:p>
            <a:fld id="{05E9E9F8-694E-4014-9190-D53BFD3B079D}" type="slidenum">
              <a:rPr lang="pt-BR" smtClean="0"/>
              <a:t>2</a:t>
            </a:fld>
            <a:endParaRPr lang="pt-BR" dirty="0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48124505-00E5-9A97-1D23-DB2E6F20A3E7}"/>
              </a:ext>
            </a:extLst>
          </p:cNvPr>
          <p:cNvGrpSpPr/>
          <p:nvPr/>
        </p:nvGrpSpPr>
        <p:grpSpPr>
          <a:xfrm>
            <a:off x="259708" y="247678"/>
            <a:ext cx="11672584" cy="6493637"/>
            <a:chOff x="202976" y="219643"/>
            <a:chExt cx="11672584" cy="6493637"/>
          </a:xfrm>
        </p:grpSpPr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id="{2559AD99-5F1A-BADA-4568-0E064D2DBA97}"/>
                </a:ext>
              </a:extLst>
            </p:cNvPr>
            <p:cNvGrpSpPr/>
            <p:nvPr/>
          </p:nvGrpSpPr>
          <p:grpSpPr>
            <a:xfrm>
              <a:off x="202976" y="2770049"/>
              <a:ext cx="11672584" cy="3943231"/>
              <a:chOff x="202976" y="2770049"/>
              <a:chExt cx="11672584" cy="3943231"/>
            </a:xfrm>
          </p:grpSpPr>
          <p:sp>
            <p:nvSpPr>
              <p:cNvPr id="13" name="Retângulo 12">
                <a:extLst>
                  <a:ext uri="{FF2B5EF4-FFF2-40B4-BE49-F238E27FC236}">
                    <a16:creationId xmlns:a16="http://schemas.microsoft.com/office/drawing/2014/main" id="{37A1881E-DC3D-08EB-5C52-1E49756A8719}"/>
                  </a:ext>
                </a:extLst>
              </p:cNvPr>
              <p:cNvSpPr/>
              <p:nvPr/>
            </p:nvSpPr>
            <p:spPr>
              <a:xfrm>
                <a:off x="202976" y="2770049"/>
                <a:ext cx="11672583" cy="16004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ctr">
                  <a:lnSpc>
                    <a:spcPct val="150000"/>
                  </a:lnSpc>
                </a:pPr>
                <a:r>
                  <a:rPr lang="pt-BR" sz="2800" b="1" i="1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ESPAÇO BEM STAR</a:t>
                </a:r>
                <a:endParaRPr lang="pt-BR" b="1" dirty="0"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  <a:p>
                <a:pPr indent="450215" algn="ctr">
                  <a:lnSpc>
                    <a:spcPct val="150000"/>
                  </a:lnSpc>
                </a:pPr>
                <a:r>
                  <a:rPr lang="pt-BR" sz="2400" b="1" dirty="0"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Equipe: PSYSTEM - B</a:t>
                </a:r>
              </a:p>
              <a:p>
                <a:pPr marR="228600" algn="ctr">
                  <a:spcAft>
                    <a:spcPts val="0"/>
                  </a:spcAft>
                  <a:tabLst>
                    <a:tab pos="2700020" algn="ctr"/>
                    <a:tab pos="5400040" algn="r"/>
                  </a:tabLst>
                </a:pPr>
                <a:endParaRPr lang="pt-BR" sz="2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14" name="Retângulo de cantos arredondados 1">
                <a:extLst>
                  <a:ext uri="{FF2B5EF4-FFF2-40B4-BE49-F238E27FC236}">
                    <a16:creationId xmlns:a16="http://schemas.microsoft.com/office/drawing/2014/main" id="{410F6BA0-7936-385F-3E14-F8B993ACFD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978" y="6010963"/>
                <a:ext cx="11672582" cy="702317"/>
              </a:xfrm>
              <a:prstGeom prst="roundRect">
                <a:avLst>
                  <a:gd name="adj" fmla="val 16667"/>
                </a:avLst>
              </a:prstGeom>
              <a:noFill/>
              <a:ln w="31750" cmpd="sng" algn="ctr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</p:grpSp>
        <p:grpSp>
          <p:nvGrpSpPr>
            <p:cNvPr id="8" name="Agrupar 7">
              <a:extLst>
                <a:ext uri="{FF2B5EF4-FFF2-40B4-BE49-F238E27FC236}">
                  <a16:creationId xmlns:a16="http://schemas.microsoft.com/office/drawing/2014/main" id="{A260046C-06AF-EB29-359F-F228885D271B}"/>
                </a:ext>
              </a:extLst>
            </p:cNvPr>
            <p:cNvGrpSpPr/>
            <p:nvPr/>
          </p:nvGrpSpPr>
          <p:grpSpPr>
            <a:xfrm>
              <a:off x="202978" y="219643"/>
              <a:ext cx="11672582" cy="1022073"/>
              <a:chOff x="202978" y="219643"/>
              <a:chExt cx="11672582" cy="1022073"/>
            </a:xfrm>
          </p:grpSpPr>
          <p:sp>
            <p:nvSpPr>
              <p:cNvPr id="10" name="Retângulo de cantos arredondados 19">
                <a:extLst>
                  <a:ext uri="{FF2B5EF4-FFF2-40B4-BE49-F238E27FC236}">
                    <a16:creationId xmlns:a16="http://schemas.microsoft.com/office/drawing/2014/main" id="{8110BA4F-8078-9CF1-7905-7615C58BCBEB}"/>
                  </a:ext>
                </a:extLst>
              </p:cNvPr>
              <p:cNvSpPr/>
              <p:nvPr/>
            </p:nvSpPr>
            <p:spPr>
              <a:xfrm>
                <a:off x="202978" y="219643"/>
                <a:ext cx="11672582" cy="1022073"/>
              </a:xfrm>
              <a:prstGeom prst="roundRect">
                <a:avLst/>
              </a:prstGeom>
              <a:noFill/>
              <a:ln w="317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pt-BR"/>
              </a:p>
            </p:txBody>
          </p:sp>
          <p:pic>
            <p:nvPicPr>
              <p:cNvPr id="12" name="Picture 2" descr="Resultado de imagem para BANDEIRA DO BRASIL">
                <a:extLst>
                  <a:ext uri="{FF2B5EF4-FFF2-40B4-BE49-F238E27FC236}">
                    <a16:creationId xmlns:a16="http://schemas.microsoft.com/office/drawing/2014/main" id="{F8B81A35-5AD9-6B2F-5B36-E472C1E5022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92314" y="280868"/>
                <a:ext cx="1455571" cy="9048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0BA93920-55FD-F5EA-1C51-9E8AB68F06DF}"/>
              </a:ext>
            </a:extLst>
          </p:cNvPr>
          <p:cNvSpPr txBox="1"/>
          <p:nvPr/>
        </p:nvSpPr>
        <p:spPr>
          <a:xfrm>
            <a:off x="1931437" y="296848"/>
            <a:ext cx="84308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Centro Universitário SENAC</a:t>
            </a:r>
          </a:p>
          <a:p>
            <a:pPr algn="ctr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Bacharelado em Sistemas de Informação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7E6191A-A4C2-7EF4-E58C-F07CD256196F}"/>
              </a:ext>
            </a:extLst>
          </p:cNvPr>
          <p:cNvSpPr txBox="1"/>
          <p:nvPr/>
        </p:nvSpPr>
        <p:spPr>
          <a:xfrm>
            <a:off x="310569" y="6094985"/>
            <a:ext cx="11672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Orientador: Prof. Me. Ozias G. Santos</a:t>
            </a:r>
          </a:p>
          <a:p>
            <a:r>
              <a:rPr lang="pt-BR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Disciplina: Projeto Integrador com ênfase em Banco de Dados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Gráfico 1">
            <a:extLst>
              <a:ext uri="{FF2B5EF4-FFF2-40B4-BE49-F238E27FC236}">
                <a16:creationId xmlns:a16="http://schemas.microsoft.com/office/drawing/2014/main" id="{61BAC278-5B0A-D9F2-A067-E11123F7D11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5576" b="24027"/>
          <a:stretch/>
        </p:blipFill>
        <p:spPr bwMode="auto">
          <a:xfrm>
            <a:off x="259708" y="296847"/>
            <a:ext cx="1902467" cy="9591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E72373B2-3148-DA5D-4CD1-6E47C19C045C}"/>
              </a:ext>
            </a:extLst>
          </p:cNvPr>
          <p:cNvSpPr txBox="1"/>
          <p:nvPr/>
        </p:nvSpPr>
        <p:spPr>
          <a:xfrm>
            <a:off x="2484859" y="4195666"/>
            <a:ext cx="732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ENRICO FOLHENI CARVALHO</a:t>
            </a:r>
          </a:p>
          <a:p>
            <a:pPr algn="ctr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GABRIEL NOGUEIRA MAZZIERI</a:t>
            </a:r>
          </a:p>
          <a:p>
            <a:pPr algn="ctr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LORENZZO RODRIGUES DE OLIVEIRA</a:t>
            </a:r>
          </a:p>
          <a:p>
            <a:pPr algn="ctr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VINICIUS JESUS ROCHA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C2F451D-BE55-0564-72F7-A2ED524B4A22}"/>
              </a:ext>
            </a:extLst>
          </p:cNvPr>
          <p:cNvSpPr txBox="1"/>
          <p:nvPr/>
        </p:nvSpPr>
        <p:spPr>
          <a:xfrm>
            <a:off x="3047999" y="1462005"/>
            <a:ext cx="609600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</a:pPr>
            <a:r>
              <a:rPr lang="pt-BR" sz="18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Turma: 00º BSI</a:t>
            </a:r>
          </a:p>
        </p:txBody>
      </p:sp>
    </p:spTree>
    <p:extLst>
      <p:ext uri="{BB962C8B-B14F-4D97-AF65-F5344CB8AC3E}">
        <p14:creationId xmlns:p14="http://schemas.microsoft.com/office/powerpoint/2010/main" val="962543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77B2F5F-715D-3E9B-88D1-6A41F9741AC7}"/>
              </a:ext>
            </a:extLst>
          </p:cNvPr>
          <p:cNvSpPr txBox="1"/>
          <p:nvPr/>
        </p:nvSpPr>
        <p:spPr>
          <a:xfrm>
            <a:off x="392609" y="689812"/>
            <a:ext cx="10066122" cy="1298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1. Apresentação geral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19E7D48-8251-3E75-49C1-8AF05DFCA496}"/>
              </a:ext>
            </a:extLst>
          </p:cNvPr>
          <p:cNvSpPr txBox="1"/>
          <p:nvPr/>
        </p:nvSpPr>
        <p:spPr>
          <a:xfrm>
            <a:off x="257044" y="1863472"/>
            <a:ext cx="7291560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effectLst/>
              </a:rPr>
              <a:t>O projeto integrador tem como objetivo revitalizar um estúdio de pilates que enfrenta desafios devido a um atendimento ultrapassado.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effectLst/>
              </a:rPr>
              <a:t> A equipe identificou que a experiência do cliente e a gestão dos serviços estão defasadas em relação às melhores práticas do setor.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effectLst/>
              </a:rPr>
              <a:t> O projeto prevê a reestruturação do espaço físico do estúdio para criar um ambiente mais acolhedor e funcional, e o treinamento da equipe para adotar técnicas de atendimento mais eficientes e personalizadas.</a:t>
            </a:r>
            <a:endParaRPr lang="en-US" sz="1900" i="1" dirty="0">
              <a:effectLst/>
            </a:endParaRPr>
          </a:p>
        </p:txBody>
      </p:sp>
      <p:pic>
        <p:nvPicPr>
          <p:cNvPr id="13" name="Graphic 12" descr="Na mosca">
            <a:extLst>
              <a:ext uri="{FF2B5EF4-FFF2-40B4-BE49-F238E27FC236}">
                <a16:creationId xmlns:a16="http://schemas.microsoft.com/office/drawing/2014/main" id="{0E2784FF-125E-79C3-6571-E5FCDFCCB6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82765" y="2531537"/>
            <a:ext cx="3714244" cy="3714244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8397BE3-E7B9-4BD6-3C75-85773FCD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5E9E9F8-694E-4014-9190-D53BFD3B079D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4" name="Gráfico 1">
            <a:extLst>
              <a:ext uri="{FF2B5EF4-FFF2-40B4-BE49-F238E27FC236}">
                <a16:creationId xmlns:a16="http://schemas.microsoft.com/office/drawing/2014/main" id="{0A896DDA-74C9-E118-EBCF-B73B891C3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5576" b="24027"/>
          <a:stretch/>
        </p:blipFill>
        <p:spPr bwMode="auto">
          <a:xfrm>
            <a:off x="259708" y="296847"/>
            <a:ext cx="1902467" cy="9591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37045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E3FB339-E333-21E2-9F1C-9470C2071106}"/>
              </a:ext>
            </a:extLst>
          </p:cNvPr>
          <p:cNvSpPr txBox="1"/>
          <p:nvPr/>
        </p:nvSpPr>
        <p:spPr>
          <a:xfrm>
            <a:off x="606295" y="856180"/>
            <a:ext cx="4560584" cy="11280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b="1" dirty="0">
                <a:latin typeface="+mj-lt"/>
                <a:ea typeface="+mj-ea"/>
                <a:cs typeface="+mj-cs"/>
              </a:rPr>
              <a:t>2. Atendimento a ODS (SAÚDE E BEM-ESTAR)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7DDF3C7-937A-94C9-87FF-06CB22FAFCF1}"/>
              </a:ext>
            </a:extLst>
          </p:cNvPr>
          <p:cNvSpPr txBox="1"/>
          <p:nvPr/>
        </p:nvSpPr>
        <p:spPr>
          <a:xfrm>
            <a:off x="665084" y="1477375"/>
            <a:ext cx="4559425" cy="3979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Assegurar uma vida saudável e promover o bem-estar para todos, em todas as idades.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Apoio á saúde dos clientes por </a:t>
            </a:r>
            <a:r>
              <a:rPr lang="en-US" sz="2000" dirty="0"/>
              <a:t>meio de dietas e exercícios personalizados.</a:t>
            </a:r>
            <a:endParaRPr lang="en-US" sz="2000" dirty="0">
              <a:effectLst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FB8D48E-BE74-B972-4B98-A0DF3AD014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2" r="4" b="1397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8397BE3-E7B9-4BD6-3C75-85773FCD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5070" y="6492240"/>
            <a:ext cx="105571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5E9E9F8-694E-4014-9190-D53BFD3B079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4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pic>
        <p:nvPicPr>
          <p:cNvPr id="4" name="Gráfico 1">
            <a:extLst>
              <a:ext uri="{FF2B5EF4-FFF2-40B4-BE49-F238E27FC236}">
                <a16:creationId xmlns:a16="http://schemas.microsoft.com/office/drawing/2014/main" id="{C09C495B-6B1F-4E22-6362-DA3431E9D99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5576" b="24027"/>
          <a:stretch/>
        </p:blipFill>
        <p:spPr bwMode="auto">
          <a:xfrm>
            <a:off x="-1" y="30353"/>
            <a:ext cx="1902467" cy="9591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07030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EC03675-B604-07BD-C38B-1A369910D2FA}"/>
              </a:ext>
            </a:extLst>
          </p:cNvPr>
          <p:cNvSpPr txBox="1"/>
          <p:nvPr/>
        </p:nvSpPr>
        <p:spPr>
          <a:xfrm>
            <a:off x="496919" y="1349144"/>
            <a:ext cx="10066122" cy="1298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 Justificativa  e objetivos do Projeto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8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95B2E89-DFBD-BE9B-F3AA-7E9901FD8093}"/>
              </a:ext>
            </a:extLst>
          </p:cNvPr>
          <p:cNvSpPr txBox="1"/>
          <p:nvPr/>
        </p:nvSpPr>
        <p:spPr>
          <a:xfrm>
            <a:off x="737407" y="2347730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Importância das atividades físicas para saúde e bem-estar.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Modernizar o estúdio de pilates “Espaço Bem Star”.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Atendimento ultrapassado, falta de modernização.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Implementação de sistema de gestão com agendamento online, feedback e reestruturação do ambiente físico.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Benefícios do pilates e academia para diferentes perfis.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Comparar práticas e propor melhorias para programas de treinamento.</a:t>
            </a:r>
          </a:p>
        </p:txBody>
      </p:sp>
      <p:pic>
        <p:nvPicPr>
          <p:cNvPr id="15" name="Graphic 14" descr="Executar">
            <a:extLst>
              <a:ext uri="{FF2B5EF4-FFF2-40B4-BE49-F238E27FC236}">
                <a16:creationId xmlns:a16="http://schemas.microsoft.com/office/drawing/2014/main" id="{910AEECE-46B3-5A6A-2985-F0BABA8AEE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4686" y="2389218"/>
            <a:ext cx="3714244" cy="3714244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8397BE3-E7B9-4BD6-3C75-85773FCD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5E9E9F8-694E-4014-9190-D53BFD3B079D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4812761-896F-6E7B-6317-AA9C87B38A0A}"/>
              </a:ext>
            </a:extLst>
          </p:cNvPr>
          <p:cNvSpPr txBox="1"/>
          <p:nvPr/>
        </p:nvSpPr>
        <p:spPr>
          <a:xfrm>
            <a:off x="298969" y="1875453"/>
            <a:ext cx="4077089" cy="456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Gráfico 1">
            <a:extLst>
              <a:ext uri="{FF2B5EF4-FFF2-40B4-BE49-F238E27FC236}">
                <a16:creationId xmlns:a16="http://schemas.microsoft.com/office/drawing/2014/main" id="{0211ED4D-5842-3FD0-E7C2-15163626CBB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5576" b="24027"/>
          <a:stretch/>
        </p:blipFill>
        <p:spPr bwMode="auto">
          <a:xfrm>
            <a:off x="259708" y="296847"/>
            <a:ext cx="1902467" cy="9591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38635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A016CB47-C4D4-4332-9ED0-DBB916252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D6231E3-375C-568A-36F5-61F536587D6B}"/>
              </a:ext>
            </a:extLst>
          </p:cNvPr>
          <p:cNvSpPr txBox="1"/>
          <p:nvPr/>
        </p:nvSpPr>
        <p:spPr>
          <a:xfrm>
            <a:off x="532015" y="3930305"/>
            <a:ext cx="3861960" cy="24372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latin typeface="+mj-lt"/>
                <a:ea typeface="+mj-ea"/>
                <a:cs typeface="+mj-cs"/>
              </a:rPr>
              <a:t>4. Levantamento de Requisitos  e evidências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dirty="0">
              <a:latin typeface="+mj-lt"/>
              <a:ea typeface="+mj-ea"/>
              <a:cs typeface="+mj-cs"/>
            </a:endParaRP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35578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966A2BF-309A-F5A7-0D8B-92D0305E3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356" y="384462"/>
            <a:ext cx="1792216" cy="2811320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B4E13DE4-8119-FB9E-8B26-53CA68328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32727" y="384462"/>
            <a:ext cx="2804290" cy="2811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39EA2008-FFB8-0585-ABE7-5666AB268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40779" y="384462"/>
            <a:ext cx="2846906" cy="2811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3" name="Rectangle 2062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635346" y="5126067"/>
            <a:ext cx="219456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1A612D8-7EB9-A682-0635-CC04D5E99DF0}"/>
              </a:ext>
            </a:extLst>
          </p:cNvPr>
          <p:cNvSpPr txBox="1"/>
          <p:nvPr/>
        </p:nvSpPr>
        <p:spPr>
          <a:xfrm>
            <a:off x="5162719" y="3930305"/>
            <a:ext cx="6586915" cy="24372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 entrevista foi realiazada via WhatsApp.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 dirty="0"/>
              <a:t>As imagens acima mostram o ambiente onde os exercícios são realizados.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 dirty="0"/>
              <a:t>O maior problema enfrentado é a falta de um sistema para organizar as dietas e treinos.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8397BE3-E7B9-4BD6-3C75-85773FCD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5E9E9F8-694E-4014-9190-D53BFD3B079D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18" name="Gráfico 1">
            <a:extLst>
              <a:ext uri="{FF2B5EF4-FFF2-40B4-BE49-F238E27FC236}">
                <a16:creationId xmlns:a16="http://schemas.microsoft.com/office/drawing/2014/main" id="{3BFE3155-F921-03ED-8B8E-4518A25D8A9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25576" b="24027"/>
          <a:stretch/>
        </p:blipFill>
        <p:spPr bwMode="auto">
          <a:xfrm>
            <a:off x="430779" y="151617"/>
            <a:ext cx="1902467" cy="9591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82690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8DA42D-6F28-8C72-6841-1E2EF756B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CFDB25A-F81A-DA70-794D-9E86F1F7A611}"/>
              </a:ext>
            </a:extLst>
          </p:cNvPr>
          <p:cNvSpPr txBox="1"/>
          <p:nvPr/>
        </p:nvSpPr>
        <p:spPr>
          <a:xfrm>
            <a:off x="1113810" y="2960716"/>
            <a:ext cx="4036334" cy="2387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5. </a:t>
            </a:r>
            <a:r>
              <a:rPr lang="en-US" sz="3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Modelagem</a:t>
            </a:r>
            <a:r>
              <a:rPr lang="en-US" sz="3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do </a:t>
            </a:r>
            <a:r>
              <a:rPr lang="en-US" sz="3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sistema</a:t>
            </a:r>
            <a:r>
              <a:rPr lang="en-US" sz="3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 </a:t>
            </a:r>
            <a:r>
              <a:rPr lang="en-US" sz="3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Diagrama</a:t>
            </a:r>
            <a:r>
              <a:rPr lang="en-US" sz="3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Casos de </a:t>
            </a:r>
            <a:r>
              <a:rPr lang="en-US" sz="3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Uso</a:t>
            </a:r>
            <a:r>
              <a:rPr lang="en-US" sz="3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723B790-6908-5FDF-DEFC-78CBCEBE3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381" y="449035"/>
            <a:ext cx="5912953" cy="5866039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16A0FED0-CC90-32DE-CECD-3CE7363EE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187174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5E9E9F8-694E-4014-9190-D53BFD3B079D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5" name="Gráfico 1">
            <a:extLst>
              <a:ext uri="{FF2B5EF4-FFF2-40B4-BE49-F238E27FC236}">
                <a16:creationId xmlns:a16="http://schemas.microsoft.com/office/drawing/2014/main" id="{E6F8E562-01AB-EC21-B04F-F5BB445658B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5576" b="24027"/>
          <a:stretch/>
        </p:blipFill>
        <p:spPr bwMode="auto">
          <a:xfrm>
            <a:off x="259708" y="296847"/>
            <a:ext cx="1902467" cy="9591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21630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040BB58-2BF8-DEFF-4C51-BBEA0F955F27}"/>
              </a:ext>
            </a:extLst>
          </p:cNvPr>
          <p:cNvSpPr txBox="1"/>
          <p:nvPr/>
        </p:nvSpPr>
        <p:spPr>
          <a:xfrm>
            <a:off x="1113810" y="2960716"/>
            <a:ext cx="4036334" cy="2387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6. Modelagem do sistema- Diagrama Entidade Relacionamento.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F45C2FF-BF3E-CD2B-85E7-19C2DE6AB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349" y="1677922"/>
            <a:ext cx="5536001" cy="3501519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8397BE3-E7B9-4BD6-3C75-85773FCD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187174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5E9E9F8-694E-4014-9190-D53BFD3B079D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5" name="Gráfico 1">
            <a:extLst>
              <a:ext uri="{FF2B5EF4-FFF2-40B4-BE49-F238E27FC236}">
                <a16:creationId xmlns:a16="http://schemas.microsoft.com/office/drawing/2014/main" id="{842DB919-FFC4-05F8-5035-52E0B5DAFCE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5576" b="24027"/>
          <a:stretch/>
        </p:blipFill>
        <p:spPr bwMode="auto">
          <a:xfrm>
            <a:off x="259708" y="296847"/>
            <a:ext cx="1902467" cy="9591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822508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8397BE3-E7B9-4BD6-3C75-85773FCD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9297" y="6293055"/>
            <a:ext cx="327734" cy="365125"/>
          </a:xfrm>
        </p:spPr>
        <p:txBody>
          <a:bodyPr/>
          <a:lstStyle/>
          <a:p>
            <a:fld id="{05E9E9F8-694E-4014-9190-D53BFD3B079D}" type="slidenum">
              <a:rPr lang="pt-BR" smtClean="0"/>
              <a:t>9</a:t>
            </a:fld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EF7A57D-676D-A079-25F2-E4EA5518B42C}"/>
              </a:ext>
            </a:extLst>
          </p:cNvPr>
          <p:cNvSpPr txBox="1"/>
          <p:nvPr/>
        </p:nvSpPr>
        <p:spPr>
          <a:xfrm>
            <a:off x="259706" y="1263625"/>
            <a:ext cx="9135852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7. Diagrama de Classes UML - JAVA</a:t>
            </a:r>
          </a:p>
          <a:p>
            <a:pPr>
              <a:lnSpc>
                <a:spcPct val="150000"/>
              </a:lnSpc>
            </a:pP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ráfico 1">
            <a:extLst>
              <a:ext uri="{FF2B5EF4-FFF2-40B4-BE49-F238E27FC236}">
                <a16:creationId xmlns:a16="http://schemas.microsoft.com/office/drawing/2014/main" id="{8E0456D9-7D80-5426-B19A-C26699F92AF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5576" b="24027"/>
          <a:stretch/>
        </p:blipFill>
        <p:spPr bwMode="auto">
          <a:xfrm>
            <a:off x="259708" y="296847"/>
            <a:ext cx="1902467" cy="9591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C5930E5-80D4-F3B4-D147-2E8A3FAFEA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107" y="776416"/>
            <a:ext cx="5450057" cy="533396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687A1F5-5BE4-8A9E-E882-60C779E102C1}"/>
              </a:ext>
            </a:extLst>
          </p:cNvPr>
          <p:cNvSpPr txBox="1"/>
          <p:nvPr/>
        </p:nvSpPr>
        <p:spPr>
          <a:xfrm>
            <a:off x="259706" y="1711436"/>
            <a:ext cx="609600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Classes e seus papéis: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Treino: Representa um plano de exercícios, associado a um aluno e a um grupo muscular específico.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Aluno: Representa um aluno da academia, com seus dados pessoais, histórico de treinos e dieta.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Dieta: Representa um plano alimentar, associado a um aluno e a um tipo de dieta específico.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Professor: Representa um professor da academia, responsável por um conjunto de alunos.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86E473D-B56D-E5EB-90BD-BC7F03CCAB8B}"/>
              </a:ext>
            </a:extLst>
          </p:cNvPr>
          <p:cNvSpPr txBox="1"/>
          <p:nvPr/>
        </p:nvSpPr>
        <p:spPr>
          <a:xfrm>
            <a:off x="259706" y="4490661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Relações entre as classes: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Um aluno pode ter vários treinos e uma dieta.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Um treino pertence a um único aluno.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Uma dieta pertence a um único aluno.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Um professor pode ter vários alunos.</a:t>
            </a:r>
          </a:p>
        </p:txBody>
      </p:sp>
    </p:spTree>
    <p:extLst>
      <p:ext uri="{BB962C8B-B14F-4D97-AF65-F5344CB8AC3E}">
        <p14:creationId xmlns:p14="http://schemas.microsoft.com/office/powerpoint/2010/main" val="574828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EC353EE-2452-22FE-5DBC-15EA0FE29242}"/>
              </a:ext>
            </a:extLst>
          </p:cNvPr>
          <p:cNvSpPr/>
          <p:nvPr/>
        </p:nvSpPr>
        <p:spPr>
          <a:xfrm>
            <a:off x="645064" y="525982"/>
            <a:ext cx="4282983" cy="12003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0" kern="1200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B17744E-FD8D-07B7-3F71-2B7E7CFE95B7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4C469E6-A7CF-0CD8-A0E6-24E79E0FD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344" y="650494"/>
            <a:ext cx="5435456" cy="5324142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8397BE3-E7B9-4BD6-3C75-85773FCD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5E9E9F8-694E-4014-9190-D53BFD3B079D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pic>
        <p:nvPicPr>
          <p:cNvPr id="15" name="Gráfico 1">
            <a:extLst>
              <a:ext uri="{FF2B5EF4-FFF2-40B4-BE49-F238E27FC236}">
                <a16:creationId xmlns:a16="http://schemas.microsoft.com/office/drawing/2014/main" id="{EAB1F154-376E-81B2-5BBD-4FC9003160D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5576" b="24027"/>
          <a:stretch/>
        </p:blipFill>
        <p:spPr bwMode="auto">
          <a:xfrm>
            <a:off x="259708" y="296847"/>
            <a:ext cx="1902467" cy="9591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78859CF3-7D50-61AD-7878-DCF02D34E0FE}"/>
              </a:ext>
            </a:extLst>
          </p:cNvPr>
          <p:cNvSpPr txBox="1"/>
          <p:nvPr/>
        </p:nvSpPr>
        <p:spPr>
          <a:xfrm>
            <a:off x="645064" y="2077639"/>
            <a:ext cx="38801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Relacionamentos e Cardinalidades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Aluno ↔ Professor: Um professor pode ter vários alunos (1).Um aluno pertence a um único professor.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Aluno ↔ Treino: Um aluno pode ter vários treinos (1).Cada treino pertence a um único aluno.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Aluno ↔ Dieta: Um aluno pode ter várias dietas (1).Cada dieta pertence a um único aluno.</a:t>
            </a:r>
          </a:p>
        </p:txBody>
      </p:sp>
    </p:spTree>
    <p:extLst>
      <p:ext uri="{BB962C8B-B14F-4D97-AF65-F5344CB8AC3E}">
        <p14:creationId xmlns:p14="http://schemas.microsoft.com/office/powerpoint/2010/main" val="32984846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8397BE3-E7B9-4BD6-3C75-85773FCD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9297" y="6293055"/>
            <a:ext cx="327734" cy="365125"/>
          </a:xfrm>
        </p:spPr>
        <p:txBody>
          <a:bodyPr/>
          <a:lstStyle/>
          <a:p>
            <a:fld id="{05E9E9F8-694E-4014-9190-D53BFD3B079D}" type="slidenum">
              <a:rPr lang="pt-BR" smtClean="0"/>
              <a:t>11</a:t>
            </a:fld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B17744E-FD8D-07B7-3F71-2B7E7CFE95B7}"/>
              </a:ext>
            </a:extLst>
          </p:cNvPr>
          <p:cNvSpPr txBox="1"/>
          <p:nvPr/>
        </p:nvSpPr>
        <p:spPr>
          <a:xfrm>
            <a:off x="259706" y="1269749"/>
            <a:ext cx="6234400" cy="456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9. Vídeo funcional da Integração JAVA- SQL</a:t>
            </a:r>
          </a:p>
        </p:txBody>
      </p:sp>
      <p:pic>
        <p:nvPicPr>
          <p:cNvPr id="4" name="Gráfico 1">
            <a:extLst>
              <a:ext uri="{FF2B5EF4-FFF2-40B4-BE49-F238E27FC236}">
                <a16:creationId xmlns:a16="http://schemas.microsoft.com/office/drawing/2014/main" id="{25B3B0F9-8F6B-4C88-2B76-E1E0760DFB1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5576" b="24027"/>
          <a:stretch/>
        </p:blipFill>
        <p:spPr bwMode="auto">
          <a:xfrm>
            <a:off x="259708" y="296847"/>
            <a:ext cx="1902467" cy="9591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67DE7AC2-B9F7-58B4-13F2-A6C6DD4C42B2}"/>
              </a:ext>
            </a:extLst>
          </p:cNvPr>
          <p:cNvSpPr/>
          <p:nvPr/>
        </p:nvSpPr>
        <p:spPr>
          <a:xfrm>
            <a:off x="1793087" y="5311584"/>
            <a:ext cx="29041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EXEMPLO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47ECDC0-EBA3-E5C4-3F52-F46102455716}"/>
              </a:ext>
            </a:extLst>
          </p:cNvPr>
          <p:cNvSpPr txBox="1"/>
          <p:nvPr/>
        </p:nvSpPr>
        <p:spPr>
          <a:xfrm>
            <a:off x="259706" y="1649867"/>
            <a:ext cx="11587325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Criar um vídeo curto de, no máximo,1 minuto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Aqui você deve detalhar as etapas de integração do banco de dados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Criação de métodos de Conexão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Métodos DAO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Testes de conexão entre o Banco e o JAVA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Implementação das classes para execução do CRUD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dirty="0"/>
              <a:t>Aqui convém uma gravação curta dos testes de operação;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4213E0E-0C57-28AD-F3CE-0368DBA0DA8B}"/>
              </a:ext>
            </a:extLst>
          </p:cNvPr>
          <p:cNvSpPr/>
          <p:nvPr/>
        </p:nvSpPr>
        <p:spPr>
          <a:xfrm>
            <a:off x="6654802" y="4770192"/>
            <a:ext cx="2306320" cy="127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Ambiente JAVA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A646E2D-7390-9DCC-E312-3F806004C89A}"/>
              </a:ext>
            </a:extLst>
          </p:cNvPr>
          <p:cNvSpPr/>
          <p:nvPr/>
        </p:nvSpPr>
        <p:spPr>
          <a:xfrm>
            <a:off x="9158367" y="4770192"/>
            <a:ext cx="2306320" cy="127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Ambiente SQL</a:t>
            </a:r>
          </a:p>
        </p:txBody>
      </p:sp>
      <p:cxnSp>
        <p:nvCxnSpPr>
          <p:cNvPr id="10" name="Conector: Curvo 9">
            <a:extLst>
              <a:ext uri="{FF2B5EF4-FFF2-40B4-BE49-F238E27FC236}">
                <a16:creationId xmlns:a16="http://schemas.microsoft.com/office/drawing/2014/main" id="{1B84F7C5-B9A6-CF88-9020-95EC9261C350}"/>
              </a:ext>
            </a:extLst>
          </p:cNvPr>
          <p:cNvCxnSpPr>
            <a:cxnSpLocks/>
            <a:stCxn id="3" idx="2"/>
            <a:endCxn id="7" idx="2"/>
          </p:cNvCxnSpPr>
          <p:nvPr/>
        </p:nvCxnSpPr>
        <p:spPr>
          <a:xfrm rot="16200000" flipH="1">
            <a:off x="9059744" y="4788409"/>
            <a:ext cx="12700" cy="2503565"/>
          </a:xfrm>
          <a:prstGeom prst="curvedConnector3">
            <a:avLst>
              <a:gd name="adj1" fmla="val 2839984"/>
            </a:avLst>
          </a:prstGeom>
          <a:ln w="508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038B53A-166F-23FE-A705-80C42EFE622E}"/>
              </a:ext>
            </a:extLst>
          </p:cNvPr>
          <p:cNvSpPr txBox="1"/>
          <p:nvPr/>
        </p:nvSpPr>
        <p:spPr>
          <a:xfrm>
            <a:off x="8570413" y="6046542"/>
            <a:ext cx="991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Conexao</a:t>
            </a:r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819BADAB-82C5-DAE5-7D91-B0ADF5489612}"/>
              </a:ext>
            </a:extLst>
          </p:cNvPr>
          <p:cNvSpPr/>
          <p:nvPr/>
        </p:nvSpPr>
        <p:spPr>
          <a:xfrm>
            <a:off x="6532882" y="4603912"/>
            <a:ext cx="5100320" cy="1974035"/>
          </a:xfrm>
          <a:prstGeom prst="roundRect">
            <a:avLst/>
          </a:prstGeom>
          <a:noFill/>
          <a:ln w="603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74E5949-E9DA-883D-099B-097C770AFFA4}"/>
              </a:ext>
            </a:extLst>
          </p:cNvPr>
          <p:cNvSpPr txBox="1"/>
          <p:nvPr/>
        </p:nvSpPr>
        <p:spPr>
          <a:xfrm>
            <a:off x="7498080" y="4226560"/>
            <a:ext cx="3202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Apresentação da Tela com vídeo</a:t>
            </a:r>
          </a:p>
        </p:txBody>
      </p:sp>
    </p:spTree>
    <p:extLst>
      <p:ext uri="{BB962C8B-B14F-4D97-AF65-F5344CB8AC3E}">
        <p14:creationId xmlns:p14="http://schemas.microsoft.com/office/powerpoint/2010/main" val="1899851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8397BE3-E7B9-4BD6-3C75-85773FCD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9297" y="6293055"/>
            <a:ext cx="327734" cy="365125"/>
          </a:xfrm>
        </p:spPr>
        <p:txBody>
          <a:bodyPr/>
          <a:lstStyle/>
          <a:p>
            <a:fld id="{05E9E9F8-694E-4014-9190-D53BFD3B079D}" type="slidenum">
              <a:rPr lang="pt-BR" smtClean="0"/>
              <a:t>12</a:t>
            </a:fld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AFF1A13-2588-D9FC-C848-61A5A73B02B9}"/>
              </a:ext>
            </a:extLst>
          </p:cNvPr>
          <p:cNvSpPr txBox="1"/>
          <p:nvPr/>
        </p:nvSpPr>
        <p:spPr>
          <a:xfrm>
            <a:off x="522514" y="2943568"/>
            <a:ext cx="11324517" cy="82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600" dirty="0">
                <a:latin typeface="Arial" panose="020B0604020202020204" pitchFamily="34" charset="0"/>
                <a:ea typeface="Arial" panose="020B0604020202020204" pitchFamily="34" charset="0"/>
              </a:rPr>
              <a:t>Obrigado!</a:t>
            </a:r>
            <a:endParaRPr lang="pt-BR" sz="3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4" name="Gráfico 1">
            <a:extLst>
              <a:ext uri="{FF2B5EF4-FFF2-40B4-BE49-F238E27FC236}">
                <a16:creationId xmlns:a16="http://schemas.microsoft.com/office/drawing/2014/main" id="{0C22A2D2-E5AC-31BD-0628-0B7CBD4AF7B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5576" b="24027"/>
          <a:stretch/>
        </p:blipFill>
        <p:spPr bwMode="auto">
          <a:xfrm>
            <a:off x="259708" y="296847"/>
            <a:ext cx="1902467" cy="9591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74851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8397BE3-E7B9-4BD6-3C75-85773FCD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9297" y="6293055"/>
            <a:ext cx="327734" cy="365125"/>
          </a:xfrm>
        </p:spPr>
        <p:txBody>
          <a:bodyPr/>
          <a:lstStyle/>
          <a:p>
            <a:fld id="{05E9E9F8-694E-4014-9190-D53BFD3B079D}" type="slidenum">
              <a:rPr lang="pt-BR" smtClean="0"/>
              <a:t>13</a:t>
            </a:fld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AFF1A13-2588-D9FC-C848-61A5A73B02B9}"/>
              </a:ext>
            </a:extLst>
          </p:cNvPr>
          <p:cNvSpPr txBox="1"/>
          <p:nvPr/>
        </p:nvSpPr>
        <p:spPr>
          <a:xfrm>
            <a:off x="522514" y="2672981"/>
            <a:ext cx="11324517" cy="1824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4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Equipe X</a:t>
            </a:r>
          </a:p>
          <a:p>
            <a:pPr algn="ctr">
              <a:lnSpc>
                <a:spcPct val="150000"/>
              </a:lnSpc>
            </a:pPr>
            <a:r>
              <a:rPr lang="pt-BR" sz="4000" dirty="0">
                <a:latin typeface="Arial" panose="020B0604020202020204" pitchFamily="34" charset="0"/>
                <a:ea typeface="Arial" panose="020B0604020202020204" pitchFamily="34" charset="0"/>
              </a:rPr>
              <a:t>Não remover este Slide</a:t>
            </a:r>
            <a:endParaRPr lang="pt-BR" sz="4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4" name="Gráfico 1">
            <a:extLst>
              <a:ext uri="{FF2B5EF4-FFF2-40B4-BE49-F238E27FC236}">
                <a16:creationId xmlns:a16="http://schemas.microsoft.com/office/drawing/2014/main" id="{0C22A2D2-E5AC-31BD-0628-0B7CBD4AF7B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5576" b="24027"/>
          <a:stretch/>
        </p:blipFill>
        <p:spPr bwMode="auto">
          <a:xfrm>
            <a:off x="259708" y="296847"/>
            <a:ext cx="1902467" cy="9591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600441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7784</TotalTime>
  <Words>712</Words>
  <Application>Microsoft Office PowerPoint</Application>
  <PresentationFormat>Widescreen</PresentationFormat>
  <Paragraphs>87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Josias</dc:creator>
  <cp:lastModifiedBy>LORENZZO RODRIGUES DE OLIVEIRA</cp:lastModifiedBy>
  <cp:revision>248</cp:revision>
  <cp:lastPrinted>2020-08-25T21:04:28Z</cp:lastPrinted>
  <dcterms:created xsi:type="dcterms:W3CDTF">2017-10-21T18:20:41Z</dcterms:created>
  <dcterms:modified xsi:type="dcterms:W3CDTF">2024-11-18T02:34:15Z</dcterms:modified>
</cp:coreProperties>
</file>